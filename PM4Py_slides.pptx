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PM4Py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for process mining, built on Petri nets</a:t>
            </a:r>
            <a:endParaRPr lang="en-US" sz="1800" dirty="0"/>
          </a:p>
        </p:txBody>
      </p:sp>
      <p:sp>
        <p:nvSpPr>
          <p:cNvPr id="4" name="PM4Py about card"/>
          <p:cNvSpPr/>
          <p:nvPr/>
        </p:nvSpPr>
        <p:spPr>
          <a:xfrm>
            <a:off x="457200" y="1508760"/>
            <a:ext cx="3611880" cy="4800600"/>
          </a:xfrm>
          <a:prstGeom prst="roundRect">
            <a:avLst>
              <a:gd name="adj" fmla="val 2025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5" name="PM4Py about heading"/>
          <p:cNvSpPr txBox="1"/>
          <p:nvPr/>
        </p:nvSpPr>
        <p:spPr>
          <a:xfrm>
            <a:off x="68580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</a:t>
            </a:r>
            <a:endParaRPr lang="en-US" sz="2400" dirty="0"/>
          </a:p>
        </p:txBody>
      </p:sp>
      <p:sp>
        <p:nvSpPr>
          <p:cNvPr id="6" name="PM4Py about text"/>
          <p:cNvSpPr txBox="1"/>
          <p:nvPr/>
        </p:nvSpPr>
        <p:spPr>
          <a:xfrm>
            <a:off x="685800" y="228600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By: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Process Intelligence Solutions (Fraunhofer FIT spin-off)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Licence: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AGPL-3.0 (paid licence for closed-source use)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Install: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pm4py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(v2.7.23, Python ≥ 3.11)</a:t>
            </a:r>
            <a:endParaRPr lang="en-US" sz="1600" dirty="0"/>
          </a:p>
          <a:p>
            <a:pPr indent="0" marL="0">
              <a:spcBef>
                <a:spcPts val="600"/>
              </a:spcBef>
              <a:spcAft>
                <a:spcPts val="7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Key features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discovery, conformance, performance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P/T Petri nets: build, fire, reachability, soundness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Logs: CSV, XES, OCEL 2.0; models: PNML, BPMN</a:t>
            </a:r>
            <a:endParaRPr lang="en-US" sz="1600" dirty="0"/>
          </a:p>
        </p:txBody>
      </p:sp>
      <p:sp>
        <p:nvSpPr>
          <p:cNvPr id="7" name="PM4Py pros card"/>
          <p:cNvSpPr/>
          <p:nvPr/>
        </p:nvSpPr>
        <p:spPr>
          <a:xfrm>
            <a:off x="4270248" y="1508760"/>
            <a:ext cx="3611880" cy="4800600"/>
          </a:xfrm>
          <a:prstGeom prst="roundRect">
            <a:avLst>
              <a:gd name="adj" fmla="val 202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PM4Py pros heading"/>
          <p:cNvSpPr txBox="1"/>
          <p:nvPr/>
        </p:nvSpPr>
        <p:spPr>
          <a:xfrm>
            <a:off x="4498848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2400" dirty="0"/>
          </a:p>
        </p:txBody>
      </p:sp>
      <p:sp>
        <p:nvSpPr>
          <p:cNvPr id="9" name="PM4Py pros text"/>
          <p:cNvSpPr txBox="1"/>
          <p:nvPr/>
        </p:nvSpPr>
        <p:spPr>
          <a:xfrm>
            <a:off x="4498848" y="228600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Learns Petri nets from real event logs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Checks reality against a model (fitness, alignments)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Soundness check, reachability, PNML export built in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Large, active project, frequent releases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Works directly on pandas DataFrames</a:t>
            </a:r>
            <a:endParaRPr lang="en-US" sz="1600" dirty="0"/>
          </a:p>
        </p:txBody>
      </p:sp>
      <p:sp>
        <p:nvSpPr>
          <p:cNvPr id="10" name="PM4Py cons card"/>
          <p:cNvSpPr/>
          <p:nvPr/>
        </p:nvSpPr>
        <p:spPr>
          <a:xfrm>
            <a:off x="8083296" y="1508760"/>
            <a:ext cx="3611880" cy="4800600"/>
          </a:xfrm>
          <a:prstGeom prst="roundRect">
            <a:avLst>
              <a:gd name="adj" fmla="val 202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PM4Py cons heading"/>
          <p:cNvSpPr txBox="1"/>
          <p:nvPr/>
        </p:nvSpPr>
        <p:spPr>
          <a:xfrm>
            <a:off x="8311896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2400" dirty="0"/>
          </a:p>
        </p:txBody>
      </p:sp>
      <p:sp>
        <p:nvSpPr>
          <p:cNvPr id="12" name="PM4Py cons text"/>
          <p:cNvSpPr txBox="1"/>
          <p:nvPr/>
        </p:nvSpPr>
        <p:spPr>
          <a:xfrm>
            <a:off x="8311896" y="228600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Tokens are counts only: no data, guards or time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AGPL: company products need a paid licence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Heavy install (numpy, pandas, scipy, cvxopt)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Pictures need Graphviz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Basic state-space tools, no temporal logic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 Petri net in PM4Py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coffee shop: 3 orders, 2 baristas, milk for only 1 latte</a:t>
            </a:r>
            <a:endParaRPr lang="en-US" sz="1800" dirty="0"/>
          </a:p>
        </p:txBody>
      </p:sp>
      <p:sp>
        <p:nvSpPr>
          <p:cNvPr id="4" name="PM4Py model code box"/>
          <p:cNvSpPr/>
          <p:nvPr/>
        </p:nvSpPr>
        <p:spPr>
          <a:xfrm>
            <a:off x="457200" y="1463040"/>
            <a:ext cx="7086600" cy="4983480"/>
          </a:xfrm>
          <a:prstGeom prst="rect">
            <a:avLst/>
          </a:prstGeom>
          <a:solidFill>
            <a:srgbClr val="F6F7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PM4Py model code"/>
          <p:cNvSpPr txBox="1"/>
          <p:nvPr/>
        </p:nvSpPr>
        <p:spPr>
          <a:xfrm>
            <a:off x="594360" y="1554480"/>
            <a:ext cx="681228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pm4py.objects.petri_net.obj import PetriNet, Marking, InhibitorNet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pm4py.objects.petri_net.utils.petri_utils import add_arc_from_to as arc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= InhibitorNet("CoffeeShop")     # PetriNet that also allows inhibitor arcs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{n: PetriNet.Place(n) for n in ["latte_orders", "espresso_orders", "baristas",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"milk", "brewing_latte", "brewing_espresso", "served"]}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{n: PetriNet.Transition(n, n) for n in ["start_latte", "start_espresso",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"finish_latte", "finish_espresso"]}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net.places.update(P.values()); net.transitions.update(T.values())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arc(P["latte_orders"], T["start_latte"], 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arc(P["baristas"], T["start_latte"], 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arc(P["milk"], T["start_latte"], net)            # latte uses the milk token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arc(T["start_latte"], P["brewing_latte"], 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arc(P["espresso_orders"], T["start_espresso"], 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arc(P["baristas"], T["start_espresso"], 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arc(T["start_espresso"], P["brewing_espresso"], 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 in ("latte", "espresso"):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arc(P[f"brewing_{d}"], T[f"finish_{d}"], 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arc(T[f"finish_{d}"], P["served"], 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arc(T[f"finish_{d}"], P["baristas"], net)    # barista free again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 = Marking({P["latte_orders"]: 2, P["espresso_orders"]: 1,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P["baristas"]: 2, P["milk"]: 1})   # tokens are just counts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 = Marking({P["served"]: 3, P["baristas"]: 2}) # final marking: all served</a:t>
            </a:r>
            <a:endParaRPr lang="en-US" sz="1050" dirty="0"/>
          </a:p>
        </p:txBody>
      </p:sp>
      <p:pic>
        <p:nvPicPr>
          <p:cNvPr id="6" name="PM4Py net picture" descr="Coffee shop place/transition net drawn from the PM4Py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463040"/>
            <a:ext cx="4023360" cy="2144451"/>
          </a:xfrm>
          <a:prstGeom prst="rect">
            <a:avLst/>
          </a:prstGeom>
        </p:spPr>
      </p:pic>
      <p:sp>
        <p:nvSpPr>
          <p:cNvPr id="7" name="PM4Py model notes"/>
          <p:cNvSpPr txBox="1"/>
          <p:nvPr/>
        </p:nvSpPr>
        <p:spPr>
          <a:xfrm>
            <a:off x="7772400" y="3840480"/>
            <a:ext cx="3977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Drink type moves into the net: separate latte and espresso places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guards: "latte needs milk" is just an arc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Final marking marks the "all served" state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it, check it, mine it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needs an inhibitor arc; PM4Py can also learn the process from data</a:t>
            </a:r>
            <a:endParaRPr lang="en-US" sz="1800" dirty="0"/>
          </a:p>
        </p:txBody>
      </p:sp>
      <p:sp>
        <p:nvSpPr>
          <p:cNvPr id="4" name="PM4Py check code box"/>
          <p:cNvSpPr/>
          <p:nvPr/>
        </p:nvSpPr>
        <p:spPr>
          <a:xfrm>
            <a:off x="457200" y="1463040"/>
            <a:ext cx="6355080" cy="2514600"/>
          </a:xfrm>
          <a:prstGeom prst="rect">
            <a:avLst/>
          </a:prstGeom>
          <a:solidFill>
            <a:srgbClr val="F6F7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PM4Py check code"/>
          <p:cNvSpPr txBox="1"/>
          <p:nvPr/>
        </p:nvSpPr>
        <p:spPr>
          <a:xfrm>
            <a:off x="594360" y="1554480"/>
            <a:ext cx="6080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= InhibitorResetSemantics()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sem.enabled_transitions(net, im)              # start_latte, start_espresso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= sem.execute(T["start_latte"], net, im)   # returns a new marking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_, out, _ = rg.marking_flow_petri(net, im,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parameters={rg.Parameters.PETRI_SEMANTICS: sem})   # all markings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 = [m for m, nxt in out.items() if not nxt and m != fm]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restock = PetriNet.Transition("restock", "restock")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net.transitions.add(restock)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arc(P["milk"], restock, net, type="inhibitor")   # fires only when milk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arc(restock, P["milk"], net)</a:t>
            </a:r>
            <a:endParaRPr lang="en-US" sz="1000" dirty="0"/>
          </a:p>
        </p:txBody>
      </p:sp>
      <p:sp>
        <p:nvSpPr>
          <p:cNvPr id="6" name="stat before box"/>
          <p:cNvSpPr/>
          <p:nvPr/>
        </p:nvSpPr>
        <p:spPr>
          <a:xfrm>
            <a:off x="457200" y="41148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tat before"/>
          <p:cNvSpPr txBox="1"/>
          <p:nvPr/>
        </p:nvSpPr>
        <p:spPr>
          <a:xfrm>
            <a:off x="640080" y="41605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1 deadlock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 states (orders have no identity)</a:t>
            </a:r>
            <a:endParaRPr lang="en-US" sz="2800" dirty="0"/>
          </a:p>
        </p:txBody>
      </p:sp>
      <p:sp>
        <p:nvSpPr>
          <p:cNvPr id="8" name="stat after box"/>
          <p:cNvSpPr/>
          <p:nvPr/>
        </p:nvSpPr>
        <p:spPr>
          <a:xfrm>
            <a:off x="3703320" y="41148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tat after"/>
          <p:cNvSpPr txBox="1"/>
          <p:nvPr/>
        </p:nvSpPr>
        <p:spPr>
          <a:xfrm>
            <a:off x="3886200" y="41605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 deadlocks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31 states, with the inhibitor arc</a:t>
            </a:r>
            <a:endParaRPr lang="en-US" sz="2800" dirty="0"/>
          </a:p>
        </p:txBody>
      </p:sp>
      <p:sp>
        <p:nvSpPr>
          <p:cNvPr id="10" name="PM4Py mining code box"/>
          <p:cNvSpPr/>
          <p:nvPr/>
        </p:nvSpPr>
        <p:spPr>
          <a:xfrm>
            <a:off x="457200" y="5166360"/>
            <a:ext cx="6355080" cy="1280160"/>
          </a:xfrm>
          <a:prstGeom prst="rect">
            <a:avLst/>
          </a:prstGeom>
          <a:solidFill>
            <a:srgbClr val="F6F7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PM4Py mining code"/>
          <p:cNvSpPr txBox="1"/>
          <p:nvPr/>
        </p:nvSpPr>
        <p:spPr>
          <a:xfrm>
            <a:off x="594360" y="5257800"/>
            <a:ext cx="6080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PM4Py adds: process mining on a log of 200 orders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pm4py.format_dataframe(df, case_id="case", activity_key="activity",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timestamp_key="time")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net2, im2, fm2 = pm4py.discover_petri_net_inductive(log)   # model from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pm4py.fitness_alignments(log, wf, wf_im, wf_fm)  # 0.973: 6 orders never brewed</a:t>
            </a:r>
            <a:endParaRPr lang="en-US" sz="1000" dirty="0"/>
          </a:p>
        </p:txBody>
      </p:sp>
      <p:pic>
        <p:nvPicPr>
          <p:cNvPr id="12" name="PM4Py state graph" descr="Reachability graph with the deadlock marking in 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463040"/>
            <a:ext cx="4754880" cy="2876702"/>
          </a:xfrm>
          <a:prstGeom prst="rect">
            <a:avLst/>
          </a:prstGeom>
        </p:spPr>
      </p:pic>
      <p:pic>
        <p:nvPicPr>
          <p:cNvPr id="13" name="PM4Py discovered net" descr="Petri net discovered from the event log by the Inductive Mi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4434840"/>
            <a:ext cx="4754880" cy="1954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4Py Slides">
  <a:themeElements>
    <a:clrScheme name="PM4Py Slides">
      <a:dk1>
        <a:srgbClr val="1F2933"/>
      </a:dk1>
      <a:lt1>
        <a:srgbClr val="FFFFFF"/>
      </a:lt1>
      <a:dk2>
        <a:srgbClr val="3E4C59"/>
      </a:dk2>
      <a:lt2>
        <a:srgbClr val="F3F4F6"/>
      </a:lt2>
      <a:accent1>
        <a:srgbClr val="2C5F2D"/>
      </a:accent1>
      <a:accent2>
        <a:srgbClr val="0F766E"/>
      </a:accent2>
      <a:accent3>
        <a:srgbClr val="B45309"/>
      </a:accent3>
      <a:accent4>
        <a:srgbClr val="E8F0E8"/>
      </a:accent4>
      <a:accent5>
        <a:srgbClr val="E3F2EF"/>
      </a:accent5>
      <a:accent6>
        <a:srgbClr val="FFF4E5"/>
      </a:accent6>
      <a:hlink>
        <a:srgbClr val="1D4ED8"/>
      </a:hlink>
      <a:folHlink>
        <a:srgbClr val="6D28D9"/>
      </a:folHlink>
    </a:clrScheme>
    <a:fontScheme name="PM4Py Slid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PM4Py - Petri nets and process mining in Python</dc:title>
  <dc:subject>PptxGenJS Presentation</dc:subject>
  <dc:creator>PptxGenJS</dc:creator>
  <cp:lastModifiedBy>PptxGenJS</cp:lastModifiedBy>
  <cp:revision>1</cp:revision>
  <dcterms:created xsi:type="dcterms:W3CDTF">2026-10-21T20:04:23Z</dcterms:created>
  <dcterms:modified xsi:type="dcterms:W3CDTF">2026-10-21T20:04:23Z</dcterms:modified>
</cp:coreProperties>
</file>