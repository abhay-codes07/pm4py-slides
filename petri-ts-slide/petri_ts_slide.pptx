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ing"/>
          <p:cNvSpPr txBox="1"/>
          <p:nvPr/>
        </p:nvSpPr>
        <p:spPr>
          <a:xfrm>
            <a:off x="365760" y="182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</a:rPr>
              <a:t>petri-ts 0.2.0</a:t>
            </a:r>
            <a:endParaRPr lang="en-US" sz="1600" dirty="0"/>
          </a:p>
        </p:txBody>
      </p:sp>
      <p:sp>
        <p:nvSpPr>
          <p:cNvPr id="3" name="core frame"/>
          <p:cNvSpPr/>
          <p:nvPr/>
        </p:nvSpPr>
        <p:spPr>
          <a:xfrm>
            <a:off x="365760" y="731520"/>
            <a:ext cx="292608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dash"/>
          </a:ln>
        </p:spPr>
      </p:sp>
      <p:sp>
        <p:nvSpPr>
          <p:cNvPr id="4" name="core title"/>
          <p:cNvSpPr txBox="1"/>
          <p:nvPr/>
        </p:nvSpPr>
        <p:spPr>
          <a:xfrm>
            <a:off x="457200" y="777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5555"/>
                </a:solidFill>
              </a:rPr>
              <a:t>core.ts</a:t>
            </a:r>
            <a:endParaRPr lang="en-US" sz="1100" dirty="0"/>
          </a:p>
        </p:txBody>
      </p:sp>
      <p:sp>
        <p:nvSpPr>
          <p:cNvPr id="5" name="canFire"/>
          <p:cNvSpPr txBox="1"/>
          <p:nvPr/>
        </p:nvSpPr>
        <p:spPr>
          <a:xfrm>
            <a:off x="640080" y="1188720"/>
            <a:ext cx="23774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canFire(marking, t)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enough tokens in every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place?</a:t>
            </a:r>
            <a:endParaRPr lang="en-US" sz="1200" dirty="0"/>
          </a:p>
        </p:txBody>
      </p:sp>
      <p:sp>
        <p:nvSpPr>
          <p:cNvPr id="6" name="fire"/>
          <p:cNvSpPr txBox="1"/>
          <p:nvPr/>
        </p:nvSpPr>
        <p:spPr>
          <a:xfrm>
            <a:off x="640080" y="2377440"/>
            <a:ext cx="23774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fire(marking, t)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→ −1 inputs → +1 outputs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throws if !canFire</a:t>
            </a:r>
            <a:endParaRPr lang="en-US" sz="1200" dirty="0"/>
          </a:p>
        </p:txBody>
      </p:sp>
      <p:sp>
        <p:nvSpPr>
          <p:cNvPr id="7" name="fire-&gt;canFire"/>
          <p:cNvSpPr/>
          <p:nvPr/>
        </p:nvSpPr>
        <p:spPr>
          <a:xfrm flipV="1">
            <a:off x="1828800" y="2057400"/>
            <a:ext cx="914" cy="320040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tailEnd type="triangle"/>
          </a:ln>
        </p:spPr>
      </p:sp>
      <p:sp>
        <p:nvSpPr>
          <p:cNvPr id="8" name="fire-&amp;gt;canFire label"/>
          <p:cNvSpPr txBox="1"/>
          <p:nvPr/>
        </p:nvSpPr>
        <p:spPr>
          <a:xfrm>
            <a:off x="1874520" y="209854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55555"/>
                </a:solidFill>
              </a:rPr>
              <a:t>checks</a:t>
            </a:r>
            <a:endParaRPr lang="en-US" sz="850" dirty="0"/>
          </a:p>
        </p:txBody>
      </p:sp>
      <p:sp>
        <p:nvSpPr>
          <p:cNvPr id="9" name="analysis frame"/>
          <p:cNvSpPr/>
          <p:nvPr/>
        </p:nvSpPr>
        <p:spPr>
          <a:xfrm>
            <a:off x="3931920" y="731520"/>
            <a:ext cx="4846320" cy="512064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dash"/>
          </a:ln>
        </p:spPr>
      </p:sp>
      <p:sp>
        <p:nvSpPr>
          <p:cNvPr id="10" name="analysis title"/>
          <p:cNvSpPr txBox="1"/>
          <p:nvPr/>
        </p:nvSpPr>
        <p:spPr>
          <a:xfrm>
            <a:off x="4023360" y="7772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5555"/>
                </a:solidFill>
              </a:rPr>
              <a:t>analysis.ts</a:t>
            </a:r>
            <a:endParaRPr lang="en-US" sz="1100" dirty="0"/>
          </a:p>
        </p:txBody>
      </p:sp>
      <p:sp>
        <p:nvSpPr>
          <p:cNvPr id="11" name="reachable"/>
          <p:cNvSpPr txBox="1"/>
          <p:nvPr/>
        </p:nvSpPr>
        <p:spPr>
          <a:xfrm>
            <a:off x="4206240" y="1188720"/>
            <a:ext cx="21031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reachableStates(net)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from initialMarking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limit → throws</a:t>
            </a:r>
            <a:endParaRPr lang="en-US" sz="1200" dirty="0"/>
          </a:p>
        </p:txBody>
      </p:sp>
      <p:sp>
        <p:nvSpPr>
          <p:cNvPr id="12" name="enabled"/>
          <p:cNvSpPr txBox="1"/>
          <p:nvPr/>
        </p:nvSpPr>
        <p:spPr>
          <a:xfrm>
            <a:off x="6492240" y="1188720"/>
            <a:ext cx="2011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enabledTransitions()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canFire</a:t>
            </a:r>
            <a:endParaRPr lang="en-US" sz="1200" dirty="0"/>
          </a:p>
        </p:txBody>
      </p:sp>
      <p:sp>
        <p:nvSpPr>
          <p:cNvPr id="13" name="terminal"/>
          <p:cNvSpPr txBox="1"/>
          <p:nvPr/>
        </p:nvSpPr>
        <p:spPr>
          <a:xfrm>
            <a:off x="4206240" y="2514600"/>
            <a:ext cx="21031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terminalStates(net)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enabled transition</a:t>
            </a:r>
            <a:endParaRPr lang="en-US" sz="1200" dirty="0"/>
          </a:p>
        </p:txBody>
      </p:sp>
      <p:sp>
        <p:nvSpPr>
          <p:cNvPr id="14" name="invariant"/>
          <p:cNvSpPr txBox="1"/>
          <p:nvPr/>
        </p:nvSpPr>
        <p:spPr>
          <a:xfrm>
            <a:off x="6492240" y="2514600"/>
            <a:ext cx="2011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checkInvariant(w)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w·tokens equal in all states?</a:t>
            </a:r>
            <a:endParaRPr lang="en-US" sz="1200" dirty="0"/>
          </a:p>
        </p:txBody>
      </p:sp>
      <p:sp>
        <p:nvSpPr>
          <p:cNvPr id="15" name="deadlock"/>
          <p:cNvSpPr txBox="1"/>
          <p:nvPr/>
        </p:nvSpPr>
        <p:spPr>
          <a:xfrm>
            <a:off x="4206240" y="3611880"/>
            <a:ext cx="21031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isDeadlockFree(net)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terminalStates == []</a:t>
            </a:r>
            <a:endParaRPr lang="en-US" sz="1200" dirty="0"/>
          </a:p>
        </p:txBody>
      </p:sp>
      <p:sp>
        <p:nvSpPr>
          <p:cNvPr id="16" name="analyse"/>
          <p:cNvSpPr txBox="1"/>
          <p:nvPr/>
        </p:nvSpPr>
        <p:spPr>
          <a:xfrm>
            <a:off x="4206240" y="4709160"/>
            <a:ext cx="4297680" cy="868680"/>
          </a:xfrm>
          <a:prstGeom prst="rect">
            <a:avLst/>
          </a:prstGeom>
          <a:solidFill>
            <a:srgbClr val="F2F2F2"/>
          </a:solidFill>
          <a:ln w="12700">
            <a:solidFill>
              <a:srgbClr val="222222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analyse(net, options)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reachable → terminal → deadlock → invariants → dot?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one result object</a:t>
            </a:r>
            <a:endParaRPr lang="en-US" sz="1200" dirty="0"/>
          </a:p>
        </p:txBody>
      </p:sp>
      <p:sp>
        <p:nvSpPr>
          <p:cNvPr id="17" name="reach-&gt;terminal"/>
          <p:cNvSpPr/>
          <p:nvPr/>
        </p:nvSpPr>
        <p:spPr>
          <a:xfrm>
            <a:off x="5257800" y="2057400"/>
            <a:ext cx="914" cy="457200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tailEnd type="triangle"/>
          </a:ln>
        </p:spPr>
      </p:sp>
      <p:sp>
        <p:nvSpPr>
          <p:cNvPr id="18" name="reach-&amp;gt;terminal label"/>
          <p:cNvSpPr txBox="1"/>
          <p:nvPr/>
        </p:nvSpPr>
        <p:spPr>
          <a:xfrm>
            <a:off x="5303520" y="216712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55555"/>
                </a:solidFill>
              </a:rPr>
              <a:t>states</a:t>
            </a:r>
            <a:endParaRPr lang="en-US" sz="850" dirty="0"/>
          </a:p>
        </p:txBody>
      </p:sp>
      <p:sp>
        <p:nvSpPr>
          <p:cNvPr id="19" name="reach-&gt;enabled"/>
          <p:cNvSpPr/>
          <p:nvPr/>
        </p:nvSpPr>
        <p:spPr>
          <a:xfrm>
            <a:off x="6309360" y="1627632"/>
            <a:ext cx="182880" cy="914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tailEnd type="triangle"/>
          </a:ln>
        </p:spPr>
      </p:sp>
      <p:sp>
        <p:nvSpPr>
          <p:cNvPr id="20" name="reach-&gt;inv"/>
          <p:cNvSpPr/>
          <p:nvPr/>
        </p:nvSpPr>
        <p:spPr>
          <a:xfrm>
            <a:off x="7498080" y="2057400"/>
            <a:ext cx="914" cy="457200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tailEnd type="triangle"/>
          </a:ln>
        </p:spPr>
      </p:sp>
      <p:sp>
        <p:nvSpPr>
          <p:cNvPr id="21" name="reach-&amp;gt;inv label"/>
          <p:cNvSpPr txBox="1"/>
          <p:nvPr/>
        </p:nvSpPr>
        <p:spPr>
          <a:xfrm>
            <a:off x="7543800" y="216712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55555"/>
                </a:solidFill>
              </a:rPr>
              <a:t>states</a:t>
            </a:r>
            <a:endParaRPr lang="en-US" sz="850" dirty="0"/>
          </a:p>
        </p:txBody>
      </p:sp>
      <p:sp>
        <p:nvSpPr>
          <p:cNvPr id="22" name="terminal-&gt;enabled"/>
          <p:cNvSpPr/>
          <p:nvPr/>
        </p:nvSpPr>
        <p:spPr>
          <a:xfrm flipV="1">
            <a:off x="6309360" y="2057400"/>
            <a:ext cx="182880" cy="594360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tailEnd type="triangle"/>
          </a:ln>
        </p:spPr>
      </p:sp>
      <p:sp>
        <p:nvSpPr>
          <p:cNvPr id="23" name="terminal-&gt;deadlock"/>
          <p:cNvSpPr/>
          <p:nvPr/>
        </p:nvSpPr>
        <p:spPr>
          <a:xfrm>
            <a:off x="5257800" y="3246120"/>
            <a:ext cx="914" cy="365760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tailEnd type="triangle"/>
          </a:ln>
        </p:spPr>
      </p:sp>
      <p:sp>
        <p:nvSpPr>
          <p:cNvPr id="24" name="deadlock-&gt;analyse"/>
          <p:cNvSpPr/>
          <p:nvPr/>
        </p:nvSpPr>
        <p:spPr>
          <a:xfrm>
            <a:off x="5257800" y="4343400"/>
            <a:ext cx="914" cy="365760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tailEnd type="triangle"/>
          </a:ln>
        </p:spPr>
      </p:sp>
      <p:sp>
        <p:nvSpPr>
          <p:cNvPr id="25" name="inv-&gt;analyse"/>
          <p:cNvSpPr/>
          <p:nvPr/>
        </p:nvSpPr>
        <p:spPr>
          <a:xfrm>
            <a:off x="7498080" y="3246120"/>
            <a:ext cx="914" cy="1463040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tailEnd type="triangle"/>
          </a:ln>
        </p:spPr>
      </p:sp>
      <p:sp>
        <p:nvSpPr>
          <p:cNvPr id="26" name="canFire-&gt;reach"/>
          <p:cNvSpPr/>
          <p:nvPr/>
        </p:nvSpPr>
        <p:spPr>
          <a:xfrm>
            <a:off x="3017520" y="1627632"/>
            <a:ext cx="1188720" cy="914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tailEnd type="triangle"/>
          </a:ln>
        </p:spPr>
      </p:sp>
      <p:sp>
        <p:nvSpPr>
          <p:cNvPr id="27" name="canFire-&amp;gt;reach label"/>
          <p:cNvSpPr txBox="1"/>
          <p:nvPr/>
        </p:nvSpPr>
        <p:spPr>
          <a:xfrm>
            <a:off x="3154680" y="13533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55555"/>
                </a:solidFill>
              </a:rPr>
              <a:t>uses</a:t>
            </a:r>
            <a:endParaRPr lang="en-US" sz="850" dirty="0"/>
          </a:p>
        </p:txBody>
      </p:sp>
      <p:sp>
        <p:nvSpPr>
          <p:cNvPr id="28" name="fire-&gt;terminal"/>
          <p:cNvSpPr/>
          <p:nvPr/>
        </p:nvSpPr>
        <p:spPr>
          <a:xfrm>
            <a:off x="3017520" y="2880360"/>
            <a:ext cx="1188720" cy="914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tailEnd type="triangle"/>
          </a:ln>
        </p:spPr>
      </p:sp>
      <p:sp>
        <p:nvSpPr>
          <p:cNvPr id="29" name="fire-&amp;gt;terminal label"/>
          <p:cNvSpPr txBox="1"/>
          <p:nvPr/>
        </p:nvSpPr>
        <p:spPr>
          <a:xfrm>
            <a:off x="3154680" y="260604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55555"/>
                </a:solidFill>
              </a:rPr>
              <a:t>uses</a:t>
            </a:r>
            <a:endParaRPr lang="en-US" sz="850" dirty="0"/>
          </a:p>
        </p:txBody>
      </p:sp>
      <p:sp>
        <p:nvSpPr>
          <p:cNvPr id="30" name="dot frame"/>
          <p:cNvSpPr/>
          <p:nvPr/>
        </p:nvSpPr>
        <p:spPr>
          <a:xfrm>
            <a:off x="9326880" y="731520"/>
            <a:ext cx="256032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dash"/>
          </a:ln>
        </p:spPr>
      </p:sp>
      <p:sp>
        <p:nvSpPr>
          <p:cNvPr id="31" name="dot title"/>
          <p:cNvSpPr txBox="1"/>
          <p:nvPr/>
        </p:nvSpPr>
        <p:spPr>
          <a:xfrm>
            <a:off x="9418320" y="777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5555"/>
                </a:solidFill>
              </a:rPr>
              <a:t>dot.ts</a:t>
            </a:r>
            <a:endParaRPr lang="en-US" sz="1100" dirty="0"/>
          </a:p>
        </p:txBody>
      </p:sp>
      <p:sp>
        <p:nvSpPr>
          <p:cNvPr id="32" name="toDot"/>
          <p:cNvSpPr txBox="1"/>
          <p:nvPr/>
        </p:nvSpPr>
        <p:spPr>
          <a:xfrm>
            <a:off x="9418320" y="1188720"/>
            <a:ext cx="23774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toDot(net, marking?)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Graphviz DOT string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places = circle, transitions = box</a:t>
            </a:r>
            <a:endParaRPr lang="en-US" sz="1200" dirty="0"/>
          </a:p>
        </p:txBody>
      </p:sp>
      <p:sp>
        <p:nvSpPr>
          <p:cNvPr id="33" name="analysis-&gt;dot"/>
          <p:cNvSpPr/>
          <p:nvPr/>
        </p:nvSpPr>
        <p:spPr>
          <a:xfrm>
            <a:off x="8778240" y="1627632"/>
            <a:ext cx="640080" cy="914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tailEnd type="triangle"/>
          </a:ln>
        </p:spPr>
      </p:sp>
      <p:sp>
        <p:nvSpPr>
          <p:cNvPr id="34" name="analysis-&amp;gt;dot label"/>
          <p:cNvSpPr txBox="1"/>
          <p:nvPr/>
        </p:nvSpPr>
        <p:spPr>
          <a:xfrm>
            <a:off x="8641080" y="13533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55555"/>
                </a:solidFill>
              </a:rPr>
              <a:t>dot</a:t>
            </a:r>
            <a:endParaRPr lang="en-US" sz="850" dirty="0"/>
          </a:p>
        </p:txBody>
      </p:sp>
      <p:sp>
        <p:nvSpPr>
          <p:cNvPr id="35" name="dispatch frame"/>
          <p:cNvSpPr/>
          <p:nvPr/>
        </p:nvSpPr>
        <p:spPr>
          <a:xfrm>
            <a:off x="9326880" y="2743200"/>
            <a:ext cx="256032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dash"/>
          </a:ln>
        </p:spPr>
      </p:sp>
      <p:sp>
        <p:nvSpPr>
          <p:cNvPr id="36" name="dispatch title"/>
          <p:cNvSpPr txBox="1"/>
          <p:nvPr/>
        </p:nvSpPr>
        <p:spPr>
          <a:xfrm>
            <a:off x="9418320" y="2788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5555"/>
                </a:solidFill>
              </a:rPr>
              <a:t>dispatch.ts</a:t>
            </a:r>
            <a:endParaRPr lang="en-US" sz="1100" dirty="0"/>
          </a:p>
        </p:txBody>
      </p:sp>
      <p:sp>
        <p:nvSpPr>
          <p:cNvPr id="37" name="dispatcher"/>
          <p:cNvSpPr txBox="1"/>
          <p:nvPr/>
        </p:nvSpPr>
        <p:spPr>
          <a:xfrm>
            <a:off x="9418320" y="3154680"/>
            <a:ext cx="23774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createDispatcher()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/ dispatch / inspect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= load → fire → save</a:t>
            </a:r>
            <a:endParaRPr lang="en-US" sz="1200" dirty="0"/>
          </a:p>
        </p:txBody>
      </p:sp>
      <p:sp>
        <p:nvSpPr>
          <p:cNvPr id="38" name="adapter"/>
          <p:cNvSpPr txBox="1"/>
          <p:nvPr/>
        </p:nvSpPr>
        <p:spPr>
          <a:xfrm>
            <a:off x="9418320" y="4709160"/>
            <a:ext cx="23774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memoryAdapter()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store, version check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(tests only)</a:t>
            </a:r>
            <a:endParaRPr lang="en-US" sz="1200" dirty="0"/>
          </a:p>
        </p:txBody>
      </p:sp>
      <p:sp>
        <p:nvSpPr>
          <p:cNvPr id="39" name="adapter-&gt;dispatcher"/>
          <p:cNvSpPr/>
          <p:nvPr/>
        </p:nvSpPr>
        <p:spPr>
          <a:xfrm flipV="1">
            <a:off x="10607040" y="4160520"/>
            <a:ext cx="914" cy="548640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tailEnd type="triangle"/>
          </a:ln>
        </p:spPr>
      </p:sp>
      <p:sp>
        <p:nvSpPr>
          <p:cNvPr id="40" name="adapter-&amp;gt;dispatcher label"/>
          <p:cNvSpPr txBox="1"/>
          <p:nvPr/>
        </p:nvSpPr>
        <p:spPr>
          <a:xfrm>
            <a:off x="10652760" y="431596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55555"/>
                </a:solidFill>
              </a:rPr>
              <a:t>load/save</a:t>
            </a:r>
            <a:endParaRPr lang="en-US" sz="850" dirty="0"/>
          </a:p>
        </p:txBody>
      </p:sp>
      <p:sp>
        <p:nvSpPr>
          <p:cNvPr id="41" name="core-&gt;dispatch"/>
          <p:cNvSpPr/>
          <p:nvPr/>
        </p:nvSpPr>
        <p:spPr>
          <a:xfrm>
            <a:off x="8778240" y="3611880"/>
            <a:ext cx="640080" cy="914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tailEnd type="triangle"/>
          </a:ln>
        </p:spPr>
      </p:sp>
      <p:sp>
        <p:nvSpPr>
          <p:cNvPr id="42" name="core-&amp;gt;dispatch label"/>
          <p:cNvSpPr txBox="1"/>
          <p:nvPr/>
        </p:nvSpPr>
        <p:spPr>
          <a:xfrm>
            <a:off x="8641080" y="333756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55555"/>
                </a:solidFill>
              </a:rPr>
              <a:t>fire</a:t>
            </a:r>
            <a:endParaRPr lang="en-US" sz="850" dirty="0"/>
          </a:p>
        </p:txBody>
      </p:sp>
      <p:sp>
        <p:nvSpPr>
          <p:cNvPr id="43" name="types"/>
          <p:cNvSpPr txBox="1"/>
          <p:nvPr/>
        </p:nvSpPr>
        <p:spPr>
          <a:xfrm>
            <a:off x="365760" y="6080760"/>
            <a:ext cx="11521440" cy="502920"/>
          </a:xfrm>
          <a:prstGeom prst="rect">
            <a:avLst/>
          </a:prstGeom>
          <a:solidFill>
            <a:srgbClr val="F2F2F2"/>
          </a:solidFill>
          <a:ln w="12700">
            <a:solidFill>
              <a:srgbClr val="222222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Marking = { place: number }     Transition = { name, inputs[], outputs[] }     PetriNet = { transitions[], initialMarking }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2026-10-22T00:16:02Z</dcterms:created>
  <dcterms:modified xsi:type="dcterms:W3CDTF">2026-10-22T00:16:02Z</dcterms:modified>
</cp:coreProperties>
</file>